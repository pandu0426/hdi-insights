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Helvetica"/>
              </a:defRPr>
            </a:pPr>
            <a:r>
              <a:t>HDI INSIGHT AI</a:t>
            </a:r>
          </a:p>
          <a:p>
            <a:pPr>
              <a:spcBef>
                <a:spcPts val="1000"/>
              </a:spcBef>
              <a:defRPr sz="2000">
                <a:solidFill>
                  <a:srgbClr val="0F766E"/>
                </a:solidFill>
                <a:latin typeface="Helvetica"/>
              </a:defRPr>
            </a:pPr>
            <a:r>
              <a:t>AI-Powered Human Development Analytics Platform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Academic &amp; Portfolio Review Submission deck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Created by: Varigeti Karthikeya (Lead), Veera Ajay Kumar Adapa, Gulla Chandana,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Ambati Krupa Jesudas, Mohammad Tayyab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Socioeconomic Indicators Simulation •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1. Context &amp; Concept: Human Development Index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2. Problem Statement: Current limitations in policy estimation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3. System Objectives: Project goals and capabilities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4. Technology Stack: Tools used for development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5. System Architecture: Components design &amp; database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6. Machine Learning Workflow: Raw data to final inference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7. Model Performance: Benchmarking and final selection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8. Web Portal Implementation: Live features visual gallery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9. Quality Assurance &amp; System Verification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10. Project Summary, Future Scope &amp; Team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Socioeconomic Context: What is HDI?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Human Development Index (HDI) is a UN standard formulation for evaluating progress.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Dimensions measured by HDI: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Healthy Life: Life expectancy at birth (target bounds: 20 to 100 years).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Education: Expected years of schooling &amp; Mean years of schooling.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Standard of Living: Gross National Income (GNI) per Capita (PPP $).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HDI is a geometric mean of these normalized dimension indices.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Importance of predicting HDI: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Policy Tuning: Allows simulating socioeconomic impact before funding programs.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Resource Allocation: Guides healthcare budgets, school expansions, and job initiatives.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Problem Statement: Policy Simulation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Difficulty in analyzing development indicators manually: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Complex calculations involve non-linear log transformations and geometric scales.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Retrospective Limitations of Existing Databases: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Standard dashboards (UNDP databases) serve historical indicators but lack future simulations.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No local Explainable AI (XAI) mapping: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Users see scores but cannot inspect which indicator has the largest impact on outcomes.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Decision Obstacles in Public Policy: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Governments need objective, data-driven validation to allocate development funds.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Proposed AI Platform Solution: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A portal where sliders simulate parameters, yielding predictions, explainable weights, and policy advice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High Inference Accuracy: Target &gt;95% accuracy in classifying HDI category.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Companion Regression Model: Incorporate continuous scoring to estimate index value (0.000 to 1.000).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Expose Explainable AI: Formulate and plot local parameter contributions for trust and safety.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Policy Advice Generator: Program an advisor that compares inputs with world medians, highlighting focus investments.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Data Persistence Logging: Map SQLite schemas to save prediction histories securely.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Client-Ready Reporting: Render downloadable PDF summary reports on-the-fly.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System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Primary Role &amp; Application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Programming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Python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Back-end scripts, model processing, database logic, PDF compiler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Backend Web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Flask Framework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HTTP routing, input validation filters, REST APIs, JSON outputs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Scikit-Learn (SVM / Random Forest)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Model training, pipeline benchmarks, model loading (.joblib)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Database Layer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SQLite3 Engine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Persistent database tables logging prediction logs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Frontend UI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HTML5, CSS3, ES6 Javascript, 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Responsive layout grids, light/dark mode variables, dynamic log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System Architecture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Architectural Paradigm: Model-View-Controller (MVC) data separation.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Request Flow Path: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- 1. User Interface (Client): Sliders record socioeconomic parameters.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- 2. Flask Router (Backend API): Receives variables, runs input boundaries checks.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- 3. Machine Learning (Inference): Scaler transforms inputs; SVM Classifies class; RF Regresses continuous score.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- 4. Explainable AI &amp; Advisor: Local weight logs mapped; Policy rules evaluated against world medians.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- 5. Database Logging: SQLite logs the run parameters dynamically.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- 6. View Render: JSON returned to update frontend gauges, charts, and recommendations.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Report Generation Engine: Backend reportlab module compiles the summary PDF on-the-fly.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Machine Learning Workflow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1. Dataset Collection: Global UNDP human development indicators dataset.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2. Preprocessing &amp; Cleaning: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Remove duplicate rows.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Missing value imputation: Fill missing variables using country medians first, then global medians.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Outlier detection: Evaluated using Interquartile Range (IQR) methods.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3. Feature Engineering: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Log transform applied to Gross National Income (GNI) per capita (PPP $) to align scales.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Feature centering &amp; scaling using StandardScaler.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4. Benchmarking Model Suite: Split 75% train, 25% test; evaluated 5 classifiers.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5. Model Deployment: Best classifier (SVM) and companion RF Regressor compiled as joblib binaries.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Model Benchmarking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Weighted 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Weighted 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Train Time (s)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E3A8A"/>
                          </a:solidFill>
                          <a:latin typeface="Helvetica"/>
                        </a:defRPr>
                      </a:pPr>
                      <a:r>
                        <a:t>Support Vector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E3A8A"/>
                          </a:solidFill>
                          <a:latin typeface="Helvetica"/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E3A8A"/>
                          </a:solidFill>
                          <a:latin typeface="Helvetica"/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E3A8A"/>
                          </a:solidFill>
                          <a:latin typeface="Helvetica"/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E3A8A"/>
                          </a:solidFill>
                          <a:latin typeface="Helvetica"/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E3A8A"/>
                          </a:solidFill>
                          <a:latin typeface="Helvetica"/>
                        </a:defRPr>
                      </a:pPr>
                      <a:r>
                        <a:t>0.050s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98.1%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98.1%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98.1%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98.1%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0.014s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0.144s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K-Nearest Neighbors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0.002s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95.6%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0.003s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72865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Helvetica"/>
              </a:defRPr>
            </a:pPr>
            <a:r>
              <a:t>• SVM achieves peak test accuracy of 98.9% and has a very compact file size (27.0 KB) compared to Random Forest (1,026.0 KB).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Helvetica"/>
              </a:defRPr>
            </a:pPr>
            <a:r>
              <a:t>• Training time and prediction latency benchmarks are minimal (all under 15ms), facilitating real-time response.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Helvetica"/>
              </a:defRPr>
            </a:pPr>
            <a:r>
              <a:t>• Companion Regressor: Deployed Random Forest Regressor for continuous scores (R-squared: 0.992).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Selected Classifier Details: SVM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Algorithm Details: Support Vector Classifier (SVC) with Radial Basis Function (RBF) kernel.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Confusion Matrix Breakdown on Test Set (476 records total):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Low Class: 105 actual records | 105 predicted correctly (100% accuracy)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Medium Class: 96 actual records | 93 predicted correctly (3 errors, misclassified as Low/High)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High Class: 71 actual records | 69 predicted correctly (2 errors, misclassified as Medium/Very High)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Very High Class: 204 actual records | 204 predicted correctly (100% accuracy)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Evaluation Synthesis: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SVM demonstrates high separating boundaries on edge threshold values.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Outliers show zero impact due to log-scaling of GNI and robust standardized scaling.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Core Platform Features: Prediction &amp; XAI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Real-time Predictive Simulator: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Responsive sliders capturing variables in natural units.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Validations ensure out-of-bounds parameters are rejected.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Dual Prediction Output: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Category: Deployed SVM classifier outputs Low, Medium, High, or Very High.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Score: Deployed companion RF Regressor outputs continuous estimation (e.g. 0.785).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Interactive Confidence Gauge: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Dial displays SVM probability confidence (0 - 100%) dynamically.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Local Explainable AI (XAI):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Extracts and displays model feature contribution vectors, illustrating which socioeconomic indicator drove the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Core Features: Policy Advisor &amp; Country Compare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Intelligent Development Advisor Recommendations: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Dynamic rules parser matches user indicators against global medians.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Recommends actionable reforms (e.g., healthcare funding if Life Expectancy is below 72.0 years).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Side-by-Side Country Comparison: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Dropdown containing list of real-world countries.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Select any nation to overlay your custom profile against their official UNDP benchmarks.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Trend Analytics Dashboard: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Displays aggregate graphs: prediction categories distribution, history logs trends over time.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Sample Predictions Profile Templates: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Preloads geographic profiles (Nordic region, Sub-Saharan Africa, East Asia) for quick simulator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Core Features: Exports &amp; Style Themes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Historical Simulation Log Database: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Persistent SQLite table writes all simulator runs.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Main interface lists recent runs, enabling easy review, search, or deletion.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Dynamic ReportLab PDF Exports: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Single-click PDF generator compiles structured reports on the server side.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Includes indicators, prediction outcomes, confidence score, XAI weights, and policy advice.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Local CSV Exporter: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Allows exporting full historical simulation database tables to standard CSV format.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Light &amp; Dark Theme Support: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Seamless CSS variables implementation for modern night-time interface styling.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Interface Walkthrough &amp;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A full gallery of screenshots is saved in the /Screenshots directory of the workspace.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Main Interface Areas: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Home Dashboard View: Logs aggregate counts, recent runs list, and theme settings.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Predict Simulator: Vertical/horizontal range sliders, Dial gauge, and XAI weights.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Country Comparison: Selected benchmark overlays showing index indicator gaps.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Model Performance: Displays comparative tables, latency scales, and confusion matrices.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All screens support responsive styling layouts adapting to tablet, mobile, and desktop views.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Dark Mode styling renders high-contrast teal indicators on charcoal backgrounds, ensuring visual comfort.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Quality Assurance &amp; Testing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Test Case 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Expected Behavior / Result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TC-001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Home rendering (GET 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HTTP 200, HTML page with layout form renders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766E"/>
                          </a:solidFill>
                          <a:latin typeface="Helvetica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TC-002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Prediction success (POST /predict)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HTTP 200, returns prediction and confidence variables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766E"/>
                          </a:solidFill>
                          <a:latin typeface="Helvetica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TC-003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Validation limits Min (slider edge)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Life: 20.0 (Min edge) results in class 'Low'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766E"/>
                          </a:solidFill>
                          <a:latin typeface="Helvetica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TC-004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Validation limits Max (slider edge)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Life: 100.0 (Max edge) results in class 'Very High'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766E"/>
                          </a:solidFill>
                          <a:latin typeface="Helvetica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TC-005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Validation boundaries reject (out-of-bounds)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Life: 15.0 (below Min limit) rejected with 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766E"/>
                          </a:solidFill>
                          <a:latin typeface="Helvetica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72865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Helvetica"/>
              </a:defRPr>
            </a:pPr>
            <a:r>
              <a:t>• Testing Strategy: Implemented standard unit tests using Python's unittest module, verifying server route logic.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Helvetica"/>
              </a:defRPr>
            </a:pPr>
            <a:r>
              <a:t>• Boundary Testing: Simulator checks extrema limits (Min &amp; Max slider boundaries) to ensure safe model inputs.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Helvetica"/>
              </a:defRPr>
            </a:pPr>
            <a:r>
              <a:t>• Regression Testing: Automated assertions check JSON schemas of API outputs.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Future Enhancements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1. Dynamic Geographic Mapping: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Implement Leaflet.js or D3.js to render color-coded world maps dynamically mapping simulated indicators.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2. Time-Series Forecasting Modules: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Add LSTM or ARIMA forecasting libraries to predict future HDI indicator paths over a 10-year period.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3. Advanced Explainable AI (XAI) integration: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Incorporate SHAP and LIME library diagnostics to output fine-grained visual feature contribution plots.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4. User Security &amp; Dashboards: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Implement user authentication, role-based access, and cloud database storage.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Helvetica"/>
              </a:defRPr>
            </a:pPr>
            <a:r>
              <a:t>• 5. Policy Formulation AI Chatbot: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1F2937"/>
                </a:solidFill>
                <a:latin typeface="Helvetica"/>
              </a:defRPr>
            </a:pPr>
            <a:r>
              <a:t>  - Integrate a lightweight LLM chat bot to discuss custom country development plans dynamically.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1E3A8A"/>
                </a:solidFill>
                <a:latin typeface="Helvetica"/>
              </a:defRPr>
            </a:pPr>
            <a:r>
              <a:t>Project Team Roles &amp;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Member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Project Role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Core Responsibilities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Varigeti Karthikeya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Team Lead &amp; Backend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Project scheduling, Flask route handlers, database integration, API controller logic.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Veera Ajay Kumar Adapa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Machine Learning Engineer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Preprocessing scripts, model benchmarking, tuning SVM &amp; companion RF, saving binaries.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Gulla Chandana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Frontend Designer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Interactive UI layout, Light/Dark mode stylesheet variables, Chart.js implementation.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Ambati Krupa Jesudas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QA &amp; Test Engineer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Unit tests creation, edge cases validation, UAT checklist design, test executions.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Mohammad Tayyab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Technical Writer &amp;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000">
                          <a:solidFill>
                            <a:srgbClr val="1F2937"/>
                          </a:solidFill>
                          <a:latin typeface="Helvetica"/>
                        </a:defRPr>
                      </a:pPr>
                      <a:r>
                        <a:t>Programmatic PDF reporting module, installation guides, user manuals, deployment.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Helvetica"/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Helvetica"/>
              </a:defRPr>
            </a:pPr>
            <a:r>
              <a:t>• Successful Platform Integration: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FFFFFF"/>
                </a:solidFill>
                <a:latin typeface="Helvetica"/>
              </a:defRPr>
            </a:pPr>
            <a:r>
              <a:t>  - Deployed a portfolio-ready web analytics portal matching standard UN HDI dimensions.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Helvetica"/>
              </a:defRPr>
            </a:pPr>
            <a:r>
              <a:t>• High Inference Accuracy: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FFFFFF"/>
                </a:solidFill>
                <a:latin typeface="Helvetica"/>
              </a:defRPr>
            </a:pPr>
            <a:r>
              <a:t>  - Deployed Support Vector Machine (SVM) achieving peak accuracy of 98.9% on test set.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Helvetica"/>
              </a:defRPr>
            </a:pPr>
            <a:r>
              <a:t>• Dual Analytical Scope: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FFFFFF"/>
                </a:solidFill>
                <a:latin typeface="Helvetica"/>
              </a:defRPr>
            </a:pPr>
            <a:r>
              <a:t>  - Companion Random Forest Regressor provides continuous index scores complementing categories.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Helvetica"/>
              </a:defRPr>
            </a:pPr>
            <a:r>
              <a:t>• User-Driven Value System: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FFFFFF"/>
                </a:solidFill>
                <a:latin typeface="Helvetica"/>
              </a:defRPr>
            </a:pPr>
            <a:r>
              <a:t>  - Explainable AI and dynamic policy advisor recommendations bridge the gap between ML outputs and user action.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Helvetica"/>
              </a:defRPr>
            </a:pPr>
            <a:r>
              <a:t>• Technical Viability:</a:t>
            </a:r>
          </a:p>
          <a:p>
            <a:pPr lvl="1">
              <a:spcAft>
                <a:spcPts val="400"/>
              </a:spcAft>
              <a:defRPr sz="1250" i="1">
                <a:solidFill>
                  <a:srgbClr val="FFFFFF"/>
                </a:solidFill>
                <a:latin typeface="Helvetica"/>
              </a:defRPr>
            </a:pPr>
            <a:r>
              <a:t>  - System is lightweight, fully tested (100% pass rates), and scalable for future development roadmap.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400">
                <a:solidFill>
                  <a:srgbClr val="FFFFFF"/>
                </a:solidFill>
                <a:latin typeface="Helvetica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0F766E"/>
                </a:solidFill>
                <a:latin typeface="Helvetica"/>
              </a:defRPr>
            </a:pPr>
            <a:r>
              <a:t>Questions &amp; Answers Session</a:t>
            </a:r>
          </a:p>
          <a:p>
            <a:pPr algn="ctr">
              <a:spcBef>
                <a:spcPts val="3600"/>
              </a:spcBef>
              <a:defRPr sz="1400">
                <a:solidFill>
                  <a:srgbClr val="FFFFFF"/>
                </a:solidFill>
                <a:latin typeface="Helvetica"/>
              </a:defRPr>
            </a:pPr>
            <a:r>
              <a:t>GitHub Repository: https://github.com/pandu0426/HDI-Insights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